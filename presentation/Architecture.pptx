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5F8FC"/>
                </a:solidFill>
                <a:latin typeface="Aptos"/>
              </a:rPr>
              <a:t>GlucoTwin — Digital Twin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BECCDC"/>
                </a:solidFill>
                <a:latin typeface="Aptos"/>
              </a:rPr>
              <a:t>Fusion of synthetic EHR + dynamic wearable data for personalized 2-hour glucose excursion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154680" cy="1325880"/>
          </a:xfrm>
          <a:prstGeom prst="roundRect">
            <a:avLst/>
          </a:prstGeom>
          <a:solidFill>
            <a:srgbClr val="2A4A6C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SYNTHETIC EHR DATA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Demographics  •  Diagnoses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Lab results  •  Genetic risk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Medication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39912" y="1234440"/>
            <a:ext cx="3154680" cy="1325880"/>
          </a:xfrm>
          <a:prstGeom prst="roundRect">
            <a:avLst/>
          </a:prstGeom>
          <a:solidFill>
            <a:srgbClr val="2A4A6C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DYNAMIC WEARABLE DATA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CGM glucose  •  Heart rate  •  HRV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Step count  •  Sleep stages  • 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2697480"/>
            <a:ext cx="3813048" cy="1051560"/>
          </a:xfrm>
          <a:prstGeom prst="roundRect">
            <a:avLst/>
          </a:prstGeom>
          <a:solidFill>
            <a:srgbClr val="225D7A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F5F8FC"/>
                </a:solidFill>
                <a:latin typeface="Aptos Display"/>
              </a:rPr>
              <a:t>DATA FUSION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5F8FC"/>
                </a:solidFill>
                <a:latin typeface="Aptos"/>
              </a:rPr>
              <a:t>EHR + Wearables  →  Unified Patient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4005072"/>
            <a:ext cx="3813048" cy="914400"/>
          </a:xfrm>
          <a:prstGeom prst="roundRect">
            <a:avLst/>
          </a:prstGeom>
          <a:solidFill>
            <a:srgbClr val="225D7A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400" b="1">
                <a:solidFill>
                  <a:srgbClr val="F5F8FC"/>
                </a:solidFill>
                <a:latin typeface="Aptos Display"/>
              </a:rPr>
              <a:t>FEATURE ENGINEERING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Trends • Rolling statistics • HR/HRV • Activity/Sleep •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87952" y="5148072"/>
            <a:ext cx="3813048" cy="868680"/>
          </a:xfrm>
          <a:prstGeom prst="roundRect">
            <a:avLst/>
          </a:prstGeom>
          <a:solidFill>
            <a:srgbClr val="683F79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400" b="1">
                <a:solidFill>
                  <a:srgbClr val="F5F8FC"/>
                </a:solidFill>
                <a:latin typeface="Aptos Display"/>
              </a:rPr>
              <a:t>XGBOOST PREDICTION MODEL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Personalized binary classification • 2-hour horizon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074920"/>
            <a:ext cx="3246120" cy="1097280"/>
          </a:xfrm>
          <a:prstGeom prst="roundRect">
            <a:avLst/>
          </a:prstGeom>
          <a:solidFill>
            <a:srgbClr val="2A6E5B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300" b="1">
                <a:solidFill>
                  <a:srgbClr val="F5F8FC"/>
                </a:solidFill>
                <a:latin typeface="Aptos Display"/>
              </a:rPr>
              <a:t>2-HOUR GLUCOSE SPIKE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5F8FC"/>
                </a:solidFill>
                <a:latin typeface="Aptos"/>
              </a:rPr>
              <a:t>Probability that glucose reaches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5F8FC"/>
                </a:solidFill>
                <a:latin typeface="Aptos"/>
              </a:rPr>
              <a:t>≥ 180 mg/dL at +2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48472" y="5074920"/>
            <a:ext cx="3246120" cy="1097280"/>
          </a:xfrm>
          <a:prstGeom prst="roundRect">
            <a:avLst/>
          </a:prstGeom>
          <a:solidFill>
            <a:srgbClr val="2A6E5B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300" b="1">
                <a:solidFill>
                  <a:srgbClr val="F5F8FC"/>
                </a:solidFill>
                <a:latin typeface="Aptos Display"/>
              </a:rPr>
              <a:t>SHAP EXPLAINABILITY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5F8FC"/>
                </a:solidFill>
                <a:latin typeface="Aptos"/>
              </a:rPr>
              <a:t>Patient-specific feature contributions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F5F8FC"/>
                </a:solidFill>
                <a:latin typeface="Aptos"/>
              </a:rPr>
              <a:t>supporting model transparency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6144768"/>
            <a:ext cx="1828800" cy="475488"/>
          </a:xfrm>
          <a:prstGeom prst="roundRect">
            <a:avLst/>
          </a:prstGeom>
          <a:solidFill>
            <a:srgbClr val="385B6F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050" b="1">
                <a:solidFill>
                  <a:srgbClr val="F5F8FC"/>
                </a:solidFill>
                <a:latin typeface="Aptos Display"/>
              </a:rPr>
              <a:t>DIGITAL TWIN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5F8FC"/>
                </a:solidFill>
                <a:latin typeface="Aptos"/>
              </a:rPr>
              <a:t>Personalized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6144768"/>
            <a:ext cx="1874519" cy="475488"/>
          </a:xfrm>
          <a:prstGeom prst="roundRect">
            <a:avLst/>
          </a:prstGeom>
          <a:solidFill>
            <a:srgbClr val="385B6F"/>
          </a:solidFill>
          <a:ln w="15240">
            <a:solidFill>
              <a:srgbClr val="69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050" b="1">
                <a:solidFill>
                  <a:srgbClr val="F5F8FC"/>
                </a:solidFill>
                <a:latin typeface="Aptos Display"/>
              </a:rPr>
              <a:t>STREAMLIT UI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5F8FC"/>
                </a:solidFill>
                <a:latin typeface="Aptos"/>
              </a:rPr>
              <a:t>Doctor-facing prototype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76272" y="2560320"/>
            <a:ext cx="2578608" cy="13716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452360" y="2560320"/>
            <a:ext cx="2560320" cy="13716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9048" y="3749039"/>
            <a:ext cx="0" cy="256033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9048" y="4919472"/>
            <a:ext cx="0" cy="22860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788920" y="5468112"/>
            <a:ext cx="1920240" cy="54864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79792" y="5468112"/>
            <a:ext cx="1801368" cy="54864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40480" y="5623560"/>
            <a:ext cx="347472" cy="73152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001000" y="5623560"/>
            <a:ext cx="347472" cy="731520"/>
          </a:xfrm>
          <a:prstGeom prst="line">
            <a:avLst/>
          </a:prstGeom>
          <a:ln w="27940">
            <a:solidFill>
              <a:srgbClr val="73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629400"/>
            <a:ext cx="109728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BECCDC"/>
                </a:solidFill>
                <a:latin typeface="Aptos"/>
              </a:rPr>
              <a:t>Research prototype • Synthetic/anonymized data only • Not a clinical diagnostic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