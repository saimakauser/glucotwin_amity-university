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10698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F5F8FC"/>
                </a:solidFill>
                <a:latin typeface="Aptos"/>
              </a:rPr>
              <a:t>GlucoTwin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4CBEDC"/>
                </a:solidFill>
                <a:latin typeface="Aptos"/>
              </a:rPr>
              <a:t>Personalized Digital Twin for 2-Hour Glucose Spike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71800"/>
            <a:ext cx="9418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BECCDC"/>
                </a:solidFill>
                <a:latin typeface="Aptos"/>
              </a:rPr>
              <a:t>A research prototype that fuses synthetic EHR and dynamic wearable data to estimate the probability that glucose reaches ≥180 mg/dL at +2 hours.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9080" y="4160520"/>
            <a:ext cx="4069080" cy="960120"/>
          </a:xfrm>
          <a:prstGeom prst="roundRect">
            <a:avLst/>
          </a:prstGeom>
          <a:solidFill>
            <a:srgbClr val="683F79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300" b="1">
                <a:solidFill>
                  <a:srgbClr val="F5F8FC"/>
                </a:solidFill>
                <a:latin typeface="Aptos Display"/>
              </a:rPr>
              <a:t>RESEARCH PROTOTYPE</a:t>
            </a:r>
          </a:p>
          <a:p>
            <a:pPr algn="ctr"/>
            <a:r>
              <a:rPr sz="950">
                <a:solidFill>
                  <a:srgbClr val="F5F8FC"/>
                </a:solidFill>
                <a:latin typeface="Aptos"/>
              </a:rPr>
              <a:t>Synthetic / anonymized data • Not a clinical diagnostic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669280"/>
            <a:ext cx="8138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Saima Kauser  •  Amity University  •  Solo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BECCDC"/>
                </a:solidFill>
                <a:latin typeface="Aptos"/>
              </a:rPr>
              <a:t>GlucoTwin • Saima Kauser • Amity University    |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1.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BECCDC"/>
                </a:solidFill>
                <a:latin typeface="Aptos"/>
              </a:rPr>
              <a:t>Glucose risk is dynamic, while patient information is often fragmented across static and time-varying signals.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3566160"/>
          </a:xfrm>
          <a:prstGeom prst="roundRect">
            <a:avLst/>
          </a:prstGeom>
          <a:solidFill>
            <a:srgbClr val="2A4A6C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700" b="1">
                <a:solidFill>
                  <a:srgbClr val="F5F8FC"/>
                </a:solidFill>
                <a:latin typeface="Aptos Display"/>
              </a:rPr>
              <a:t>STATIC CONTEXT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Demographics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Past diagnoses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Lab results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Medication history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Genetic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371600"/>
            <a:ext cx="3474720" cy="3566160"/>
          </a:xfrm>
          <a:prstGeom prst="roundRect">
            <a:avLst/>
          </a:prstGeom>
          <a:solidFill>
            <a:srgbClr val="226970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700" b="1">
                <a:solidFill>
                  <a:srgbClr val="F5F8FC"/>
                </a:solidFill>
                <a:latin typeface="Aptos Display"/>
              </a:rPr>
              <a:t>DYNAMIC SIGNALS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CGM glucose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Heart rate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HRV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Steps / activity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Sleep stages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1583" y="1371600"/>
            <a:ext cx="3429000" cy="3566160"/>
          </a:xfrm>
          <a:prstGeom prst="roundRect">
            <a:avLst/>
          </a:prstGeom>
          <a:solidFill>
            <a:srgbClr val="683F79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700" b="1">
                <a:solidFill>
                  <a:srgbClr val="F5F8FC"/>
                </a:solidFill>
                <a:latin typeface="Aptos Display"/>
              </a:rPr>
              <a:t>THE GAP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Signals can be viewed separately.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/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GlucoTwin combines them into one evolving, patient-specific state for a defined prediction horizon.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4CBEDC"/>
                </a:solidFill>
                <a:latin typeface="Aptos"/>
              </a:rPr>
              <a:t>Use case: predict whether glucose will reach ≥180 mg/dL at the exact +2-hour horizon.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BECCDC"/>
                </a:solidFill>
                <a:latin typeface="Aptos"/>
              </a:rPr>
              <a:t>GlucoTwin • Saima Kauser • Amity University    |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2.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BECCDC"/>
                </a:solidFill>
                <a:latin typeface="Aptos"/>
              </a:rPr>
              <a:t>A patient-specific state is created from fused historical context and recent physiological signals.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2514600" cy="1143000"/>
          </a:xfrm>
          <a:prstGeom prst="roundRect">
            <a:avLst/>
          </a:prstGeom>
          <a:solidFill>
            <a:srgbClr val="2A4A6C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400" b="1">
                <a:solidFill>
                  <a:srgbClr val="F5F8FC"/>
                </a:solidFill>
                <a:latin typeface="Aptos Display"/>
              </a:rPr>
              <a:t>01  INGEST</a:t>
            </a:r>
          </a:p>
          <a:p>
            <a:pPr algn="ctr"/>
            <a:r>
              <a:rPr sz="1000">
                <a:solidFill>
                  <a:srgbClr val="F5F8FC"/>
                </a:solidFill>
                <a:latin typeface="Aptos"/>
              </a:rPr>
              <a:t>Synthetic EHR + wearable streams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371600"/>
            <a:ext cx="2514600" cy="1143000"/>
          </a:xfrm>
          <a:prstGeom prst="roundRect">
            <a:avLst/>
          </a:prstGeom>
          <a:solidFill>
            <a:srgbClr val="226970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400" b="1">
                <a:solidFill>
                  <a:srgbClr val="F5F8FC"/>
                </a:solidFill>
                <a:latin typeface="Aptos Display"/>
              </a:rPr>
              <a:t>02  FUSE</a:t>
            </a:r>
          </a:p>
          <a:p>
            <a:pPr algn="ctr"/>
            <a:r>
              <a:rPr sz="1000">
                <a:solidFill>
                  <a:srgbClr val="F5F8FC"/>
                </a:solidFill>
                <a:latin typeface="Aptos"/>
              </a:rPr>
              <a:t>Unified patient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17336" y="1371600"/>
            <a:ext cx="2514600" cy="1143000"/>
          </a:xfrm>
          <a:prstGeom prst="roundRect">
            <a:avLst/>
          </a:prstGeom>
          <a:solidFill>
            <a:srgbClr val="683F79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400" b="1">
                <a:solidFill>
                  <a:srgbClr val="F5F8FC"/>
                </a:solidFill>
                <a:latin typeface="Aptos Display"/>
              </a:rPr>
              <a:t>03  PREDICT</a:t>
            </a:r>
          </a:p>
          <a:p>
            <a:pPr algn="ctr"/>
            <a:r>
              <a:rPr sz="1000">
                <a:solidFill>
                  <a:srgbClr val="F5F8FC"/>
                </a:solidFill>
                <a:latin typeface="Aptos"/>
              </a:rPr>
              <a:t>XGBoost at +2 hours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33104" y="1371600"/>
            <a:ext cx="2514600" cy="1143000"/>
          </a:xfrm>
          <a:prstGeom prst="roundRect">
            <a:avLst/>
          </a:prstGeom>
          <a:solidFill>
            <a:srgbClr val="2A6E5B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400" b="1">
                <a:solidFill>
                  <a:srgbClr val="F5F8FC"/>
                </a:solidFill>
                <a:latin typeface="Aptos Display"/>
              </a:rPr>
              <a:t>04  EXPLAIN</a:t>
            </a:r>
          </a:p>
          <a:p>
            <a:pPr algn="ctr"/>
            <a:r>
              <a:rPr sz="1000">
                <a:solidFill>
                  <a:srgbClr val="F5F8FC"/>
                </a:solidFill>
                <a:latin typeface="Aptos"/>
              </a:rPr>
              <a:t>SHAP contributors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71800"/>
            <a:ext cx="8549640" cy="1920240"/>
          </a:xfrm>
          <a:prstGeom prst="roundRect">
            <a:avLst/>
          </a:prstGeom>
          <a:solidFill>
            <a:srgbClr val="14263D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800" b="1">
                <a:solidFill>
                  <a:srgbClr val="F5F8FC"/>
                </a:solidFill>
                <a:latin typeface="Aptos Display"/>
              </a:rPr>
              <a:t>DIGITAL TWIN STATE</a:t>
            </a:r>
          </a:p>
          <a:p>
            <a:pPr algn="ctr"/>
            <a:r>
              <a:rPr sz="1400">
                <a:solidFill>
                  <a:srgbClr val="F5F8FC"/>
                </a:solidFill>
                <a:latin typeface="Aptos"/>
              </a:rPr>
              <a:t>Current glucose • HR • HRV • activity • sleep</a:t>
            </a:r>
          </a:p>
          <a:p>
            <a:pPr algn="ctr"/>
            <a:r>
              <a:rPr sz="1400">
                <a:solidFill>
                  <a:srgbClr val="F5F8FC"/>
                </a:solidFill>
                <a:latin typeface="Aptos"/>
              </a:rPr>
              <a:t>EHR context • recent glucose trends • rolling statistics</a:t>
            </a:r>
          </a:p>
          <a:p>
            <a:pPr algn="ctr"/>
            <a:r>
              <a:rPr sz="1400">
                <a:solidFill>
                  <a:srgbClr val="F5F8FC"/>
                </a:solidFill>
                <a:latin typeface="Aptos"/>
              </a:rPr>
              <a:t/>
            </a:r>
          </a:p>
          <a:p>
            <a:pPr algn="ctr"/>
            <a:r>
              <a:rPr sz="1400">
                <a:solidFill>
                  <a:srgbClr val="F5F8FC"/>
                </a:solidFill>
                <a:latin typeface="Aptos"/>
              </a:rPr>
              <a:t>Output: probability of glucose reaching ≥180 mg/dL at +2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257800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BECCDC"/>
                </a:solidFill>
                <a:latin typeface="Aptos"/>
              </a:rPr>
              <a:t>Doctor-facing conceptual dashboard connects patient context → current state → prediction → explanation.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BECCDC"/>
                </a:solidFill>
                <a:latin typeface="Aptos"/>
              </a:rPr>
              <a:t>GlucoTwin • Saima Kauser • Amity University    |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3. What Makes It a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BECCDC"/>
                </a:solidFill>
                <a:latin typeface="Aptos"/>
              </a:rPr>
              <a:t>The prototype maintains a patient-specific state rather than using a single population-level input.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246120" cy="3566160"/>
          </a:xfrm>
          <a:prstGeom prst="roundRect">
            <a:avLst/>
          </a:prstGeom>
          <a:solidFill>
            <a:srgbClr val="2A4A6C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700" b="1">
                <a:solidFill>
                  <a:srgbClr val="F5F8FC"/>
                </a:solidFill>
                <a:latin typeface="Aptos Display"/>
              </a:rPr>
              <a:t>PATIENT PROFILE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Age / sex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BMI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HbA1c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Blood pressure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Cholesterol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Diabetes duration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Diagnosis / medication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Genetic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371600"/>
            <a:ext cx="3246120" cy="3566160"/>
          </a:xfrm>
          <a:prstGeom prst="roundRect">
            <a:avLst/>
          </a:prstGeom>
          <a:solidFill>
            <a:srgbClr val="226970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700" b="1">
                <a:solidFill>
                  <a:srgbClr val="F5F8FC"/>
                </a:solidFill>
                <a:latin typeface="Aptos Display"/>
              </a:rPr>
              <a:t>LIVE / RECENT STATE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Current glucose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Heart rate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HRV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Steps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Sleep stage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Activity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15 / 30 / 60-min glucose change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1 / 2-hour rolling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371600"/>
            <a:ext cx="3246120" cy="3566160"/>
          </a:xfrm>
          <a:prstGeom prst="roundRect">
            <a:avLst/>
          </a:prstGeom>
          <a:solidFill>
            <a:srgbClr val="683F79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700" b="1">
                <a:solidFill>
                  <a:srgbClr val="F5F8FC"/>
                </a:solidFill>
                <a:latin typeface="Aptos Display"/>
              </a:rPr>
              <a:t>TWIN OUTPUT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Personalized feature vector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↓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XGBoost probability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↓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SHAP explanation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↓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Doctor-facing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4CBEDC"/>
                </a:solidFill>
                <a:latin typeface="Aptos"/>
              </a:rPr>
              <a:t>The state can be refreshed as new simulated wearable observations arrive.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BECCDC"/>
                </a:solidFill>
                <a:latin typeface="Aptos"/>
              </a:rPr>
              <a:t>GlucoTwin • Saima Kauser • Amity University    |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4. Data &amp;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BECCDC"/>
                </a:solidFill>
                <a:latin typeface="Aptos"/>
              </a:rPr>
              <a:t>All prototype data are synthetic; no real patient-identifiable information is used.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429000" cy="3886200"/>
          </a:xfrm>
          <a:prstGeom prst="roundRect">
            <a:avLst/>
          </a:prstGeom>
          <a:solidFill>
            <a:srgbClr val="2A4A6C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700" b="1">
                <a:solidFill>
                  <a:srgbClr val="F5F8FC"/>
                </a:solidFill>
                <a:latin typeface="Aptos Display"/>
              </a:rPr>
              <a:t>SYNTHETIC EHR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100 simulated patients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7-day longitudinal context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/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Demographics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Diagnoses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Labs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Medication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Genetic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429000" cy="3886200"/>
          </a:xfrm>
          <a:prstGeom prst="roundRect">
            <a:avLst/>
          </a:prstGeom>
          <a:solidFill>
            <a:srgbClr val="226970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700" b="1">
                <a:solidFill>
                  <a:srgbClr val="F5F8FC"/>
                </a:solidFill>
                <a:latin typeface="Aptos Display"/>
              </a:rPr>
              <a:t>WEARABLE / IoT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67,200 simulated records before feature cleaning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15-minute sampling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/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CGM glucose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Heart rate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HRV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Steps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Sleep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280160"/>
            <a:ext cx="3429000" cy="3886200"/>
          </a:xfrm>
          <a:prstGeom prst="roundRect">
            <a:avLst/>
          </a:prstGeom>
          <a:solidFill>
            <a:srgbClr val="683F79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700" b="1">
                <a:solidFill>
                  <a:srgbClr val="F5F8FC"/>
                </a:solidFill>
                <a:latin typeface="Aptos Display"/>
              </a:rPr>
              <a:t>FUSED DATASET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EHR context + dynamic signals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/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45 final model features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/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Glucose trends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Rolling statistics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Time features</a:t>
            </a:r>
          </a:p>
          <a:p>
            <a:pPr algn="ctr"/>
            <a:r>
              <a:rPr sz="1150">
                <a:solidFill>
                  <a:srgbClr val="F5F8FC"/>
                </a:solidFill>
                <a:latin typeface="Aptos"/>
              </a:rPr>
              <a:t>Sleep / activity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486400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4CBEDC"/>
                </a:solidFill>
                <a:latin typeface="Aptos"/>
              </a:rPr>
              <a:t>Target: future glucose at +2 hours → binary label: future glucose ≥180 mg/dL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BECCDC"/>
                </a:solidFill>
                <a:latin typeface="Aptos"/>
              </a:rPr>
              <a:t>GlucoTwin • Saima Kauser • Amity University    |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5. AI / 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BECCDC"/>
                </a:solidFill>
                <a:latin typeface="Aptos"/>
              </a:rPr>
              <a:t>XGBoost learns the relationship between patient context, current physiology and recent trends.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514600" cy="1143000"/>
          </a:xfrm>
          <a:prstGeom prst="roundRect">
            <a:avLst/>
          </a:prstGeom>
          <a:solidFill>
            <a:srgbClr val="2A4A6C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500" b="1">
                <a:solidFill>
                  <a:srgbClr val="F5F8FC"/>
                </a:solidFill>
                <a:latin typeface="Aptos Display"/>
              </a:rPr>
              <a:t>FEATURES</a:t>
            </a:r>
          </a:p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45 engineered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325880"/>
            <a:ext cx="2514600" cy="1143000"/>
          </a:xfrm>
          <a:prstGeom prst="roundRect">
            <a:avLst/>
          </a:prstGeom>
          <a:solidFill>
            <a:srgbClr val="683F79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500" b="1">
                <a:solidFill>
                  <a:srgbClr val="F5F8FC"/>
                </a:solidFill>
                <a:latin typeface="Aptos Display"/>
              </a:rPr>
              <a:t>MODEL</a:t>
            </a:r>
          </a:p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XGBoost classifier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17336" y="1325880"/>
            <a:ext cx="2514600" cy="1143000"/>
          </a:xfrm>
          <a:prstGeom prst="roundRect">
            <a:avLst/>
          </a:prstGeom>
          <a:solidFill>
            <a:srgbClr val="2A6E5B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500" b="1">
                <a:solidFill>
                  <a:srgbClr val="F5F8FC"/>
                </a:solidFill>
                <a:latin typeface="Aptos Display"/>
              </a:rPr>
              <a:t>OUTPUT</a:t>
            </a:r>
          </a:p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Probability + binary label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33104" y="1325880"/>
            <a:ext cx="2514600" cy="1143000"/>
          </a:xfrm>
          <a:prstGeom prst="roundRect">
            <a:avLst/>
          </a:prstGeom>
          <a:solidFill>
            <a:srgbClr val="226970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500" b="1">
                <a:solidFill>
                  <a:srgbClr val="F5F8FC"/>
                </a:solidFill>
                <a:latin typeface="Aptos Display"/>
              </a:rPr>
              <a:t>EXPLANATION</a:t>
            </a:r>
          </a:p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SHAP contributions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971800"/>
            <a:ext cx="9966960" cy="1965960"/>
          </a:xfrm>
          <a:prstGeom prst="roundRect">
            <a:avLst/>
          </a:prstGeom>
          <a:solidFill>
            <a:srgbClr val="14263D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700" b="1">
                <a:solidFill>
                  <a:srgbClr val="F5F8FC"/>
                </a:solidFill>
                <a:latin typeface="Aptos Display"/>
              </a:rPr>
              <a:t>EXAMPLE MODEL INPUTS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Fasting glucose • HbA1c • Current glucose • Hour • 1/2-hour rolling glucose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Glucose change • Sleep stage • Activity • HR • HRV • Steps • BMI • Medication / diagnosis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349240"/>
            <a:ext cx="10058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4CBEDC"/>
                </a:solidFill>
                <a:latin typeface="Aptos"/>
              </a:rPr>
              <a:t>Prediction target is deliberately defined as an exact +2-hour horizon to avoid ambiguity.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BECCDC"/>
                </a:solidFill>
                <a:latin typeface="Aptos"/>
              </a:rPr>
              <a:t>GlucoTwin • Saima Kauser • Amity University    |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6. Prototype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BECCDC"/>
                </a:solidFill>
                <a:latin typeface="Aptos"/>
              </a:rPr>
              <a:t>Evaluation on the held-out portion of the synthetic dataset.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965960" cy="1417320"/>
          </a:xfrm>
          <a:prstGeom prst="roundRect">
            <a:avLst/>
          </a:prstGeom>
          <a:solidFill>
            <a:srgbClr val="2A4A6C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300" b="1">
                <a:solidFill>
                  <a:srgbClr val="F5F8FC"/>
                </a:solidFill>
                <a:latin typeface="Aptos Display"/>
              </a:rPr>
              <a:t>Accuracy</a:t>
            </a:r>
          </a:p>
          <a:p>
            <a:pPr algn="ctr"/>
            <a:r>
              <a:rPr sz="2100">
                <a:solidFill>
                  <a:srgbClr val="F5F8FC"/>
                </a:solidFill>
                <a:latin typeface="Aptos"/>
              </a:rPr>
              <a:t>90.59%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1" y="1325880"/>
            <a:ext cx="1965960" cy="1417320"/>
          </a:xfrm>
          <a:prstGeom prst="roundRect">
            <a:avLst/>
          </a:prstGeom>
          <a:solidFill>
            <a:srgbClr val="226970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300" b="1">
                <a:solidFill>
                  <a:srgbClr val="F5F8FC"/>
                </a:solidFill>
                <a:latin typeface="Aptos Display"/>
              </a:rPr>
              <a:t>Precision</a:t>
            </a:r>
          </a:p>
          <a:p>
            <a:pPr algn="ctr"/>
            <a:r>
              <a:rPr sz="2100">
                <a:solidFill>
                  <a:srgbClr val="F5F8FC"/>
                </a:solidFill>
                <a:latin typeface="Aptos"/>
              </a:rPr>
              <a:t>84.51%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75504" y="1325880"/>
            <a:ext cx="1965960" cy="1417320"/>
          </a:xfrm>
          <a:prstGeom prst="roundRect">
            <a:avLst/>
          </a:prstGeom>
          <a:solidFill>
            <a:srgbClr val="683F79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300" b="1">
                <a:solidFill>
                  <a:srgbClr val="F5F8FC"/>
                </a:solidFill>
                <a:latin typeface="Aptos Display"/>
              </a:rPr>
              <a:t>Recall</a:t>
            </a:r>
          </a:p>
          <a:p>
            <a:pPr algn="ctr"/>
            <a:r>
              <a:rPr sz="2100">
                <a:solidFill>
                  <a:srgbClr val="F5F8FC"/>
                </a:solidFill>
                <a:latin typeface="Aptos"/>
              </a:rPr>
              <a:t>80.66%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43215" y="1325880"/>
            <a:ext cx="1965960" cy="1417320"/>
          </a:xfrm>
          <a:prstGeom prst="roundRect">
            <a:avLst/>
          </a:prstGeom>
          <a:solidFill>
            <a:srgbClr val="2A6E5B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300" b="1">
                <a:solidFill>
                  <a:srgbClr val="F5F8FC"/>
                </a:solidFill>
                <a:latin typeface="Aptos Display"/>
              </a:rPr>
              <a:t>F1</a:t>
            </a:r>
          </a:p>
          <a:p>
            <a:pPr algn="ctr"/>
            <a:r>
              <a:rPr sz="2100">
                <a:solidFill>
                  <a:srgbClr val="F5F8FC"/>
                </a:solidFill>
                <a:latin typeface="Aptos"/>
              </a:rPr>
              <a:t>82.54%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10928" y="1325880"/>
            <a:ext cx="1965960" cy="1417320"/>
          </a:xfrm>
          <a:prstGeom prst="roundRect">
            <a:avLst/>
          </a:prstGeom>
          <a:solidFill>
            <a:srgbClr val="2A4A6C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300" b="1">
                <a:solidFill>
                  <a:srgbClr val="F5F8FC"/>
                </a:solidFill>
                <a:latin typeface="Aptos Display"/>
              </a:rPr>
              <a:t>ROC-AUC</a:t>
            </a:r>
          </a:p>
          <a:p>
            <a:pPr algn="ctr"/>
            <a:r>
              <a:rPr sz="2100">
                <a:solidFill>
                  <a:srgbClr val="F5F8FC"/>
                </a:solidFill>
                <a:latin typeface="Aptos"/>
              </a:rPr>
              <a:t>96.69%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54680"/>
            <a:ext cx="4846320" cy="2103120"/>
          </a:xfrm>
          <a:prstGeom prst="roundRect">
            <a:avLst/>
          </a:prstGeom>
          <a:solidFill>
            <a:srgbClr val="14263D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700" b="1">
                <a:solidFill>
                  <a:srgbClr val="F5F8FC"/>
                </a:solidFill>
                <a:latin typeface="Aptos Display"/>
              </a:rPr>
              <a:t>CONFUSION MATRIX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True negatives: 8,979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False positives: 536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False negatives: 701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True positives: 2,924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154680"/>
            <a:ext cx="5074920" cy="2103120"/>
          </a:xfrm>
          <a:prstGeom prst="roundRect">
            <a:avLst/>
          </a:prstGeom>
          <a:solidFill>
            <a:srgbClr val="14263D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700" b="1">
                <a:solidFill>
                  <a:srgbClr val="F5F8FC"/>
                </a:solidFill>
                <a:latin typeface="Aptos Display"/>
              </a:rPr>
              <a:t>TOP MODEL SIGNALS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Fasting glucose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Hour of day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Current glucose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HbA1c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2-hour rolling glucose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Sleep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BECCDC"/>
                </a:solidFill>
                <a:latin typeface="Aptos"/>
              </a:rPr>
              <a:t>Limitation: random row-level split may allow patient/time leakage and inflate performance. Clinical validation is not claimed.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BECCDC"/>
                </a:solidFill>
                <a:latin typeface="Aptos"/>
              </a:rPr>
              <a:t>GlucoTwin • Saima Kauser • Amity University    |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7. Explainability with SHAP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BECCDC"/>
                </a:solidFill>
                <a:latin typeface="Aptos"/>
              </a:rPr>
              <a:t>Patient-specific feature contributions are shown alongside the prediction.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657600" cy="3840480"/>
          </a:xfrm>
          <a:prstGeom prst="roundRect">
            <a:avLst/>
          </a:prstGeom>
          <a:solidFill>
            <a:srgbClr val="683F79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800" b="1">
                <a:solidFill>
                  <a:srgbClr val="F5F8FC"/>
                </a:solidFill>
                <a:latin typeface="Aptos Display"/>
              </a:rPr>
              <a:t>WHY SHAP?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Shows which features push the prediction higher or lower.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/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Supports model transparency.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/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Useful for a doctor-facing research UI.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/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Does not replace clinical interpretation.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2926080" cy="3840480"/>
          </a:xfrm>
          <a:prstGeom prst="roundRect">
            <a:avLst/>
          </a:prstGeom>
          <a:solidFill>
            <a:srgbClr val="226970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800" b="1">
                <a:solidFill>
                  <a:srgbClr val="F5F8FC"/>
                </a:solidFill>
                <a:latin typeface="Aptos Display"/>
              </a:rPr>
              <a:t>EXAMPLE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Patient 42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/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Current glucose: 115 mg/dL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/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Prototype probability: 0.02%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/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Prototype category: 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371600"/>
            <a:ext cx="3429000" cy="3840480"/>
          </a:xfrm>
          <a:prstGeom prst="roundRect">
            <a:avLst/>
          </a:prstGeom>
          <a:solidFill>
            <a:srgbClr val="2A4A6C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800" b="1">
                <a:solidFill>
                  <a:srgbClr val="F5F8FC"/>
                </a:solidFill>
                <a:latin typeface="Aptos Display"/>
              </a:rPr>
              <a:t>TOP CONTRIBUTORS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Fasting glucose ↓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Hour ↓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HbA1c ↓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2-hour glucose mean ↓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Current glucose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BECCDC"/>
                </a:solidFill>
                <a:latin typeface="Aptos"/>
              </a:rPr>
              <a:t>Displayed values are from the synthetic prototype and are not clinical risk scores.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BECCDC"/>
                </a:solidFill>
                <a:latin typeface="Aptos"/>
              </a:rPr>
              <a:t>GlucoTwin • Saima Kauser • Amity University    |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8. Doctor-Facing Conceptual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BECCDC"/>
                </a:solidFill>
                <a:latin typeface="Aptos"/>
              </a:rPr>
              <a:t>Streamlit interface designed to make the Digital Twin state and model evidence easy to inspect.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3886200"/>
          </a:xfrm>
          <a:prstGeom prst="roundRect">
            <a:avLst/>
          </a:prstGeom>
          <a:solidFill>
            <a:srgbClr val="2A4A6C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700" b="1">
                <a:solidFill>
                  <a:srgbClr val="F5F8FC"/>
                </a:solidFill>
                <a:latin typeface="Aptos Display"/>
              </a:rPr>
              <a:t>PATIENT DIGITAL TWIN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Patient selector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Profile &amp; medical context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Current physiological state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Last updated timestamp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Recent glucose timeline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25880"/>
            <a:ext cx="3429000" cy="3886200"/>
          </a:xfrm>
          <a:prstGeom prst="roundRect">
            <a:avLst/>
          </a:prstGeom>
          <a:solidFill>
            <a:srgbClr val="683F79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700" b="1">
                <a:solidFill>
                  <a:srgbClr val="F5F8FC"/>
                </a:solidFill>
                <a:latin typeface="Aptos Display"/>
              </a:rPr>
              <a:t>PREDICTION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2-hour probability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Prototype risk category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Binary prediction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Progress indicator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Prediction target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25880"/>
            <a:ext cx="3429000" cy="3886200"/>
          </a:xfrm>
          <a:prstGeom prst="roundRect">
            <a:avLst/>
          </a:prstGeom>
          <a:solidFill>
            <a:srgbClr val="226970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700" b="1">
                <a:solidFill>
                  <a:srgbClr val="F5F8FC"/>
                </a:solidFill>
                <a:latin typeface="Aptos Display"/>
              </a:rPr>
              <a:t>MODEL EVIDENCE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SHAP contributors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Confusion matrix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ROC curve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Feature importance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Data fusion / pipeline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4CBEDC"/>
                </a:solidFill>
                <a:latin typeface="Aptos"/>
              </a:rPr>
              <a:t>Goal: one screen connecting patient context → current state → prediction → explanation →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BECCDC"/>
                </a:solidFill>
                <a:latin typeface="Aptos"/>
              </a:rPr>
              <a:t>GlucoTwin • Saima Kauser • Amity University    |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9. Innovation &amp; Potential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BECCDC"/>
                </a:solidFill>
                <a:latin typeface="Aptos"/>
              </a:rPr>
              <a:t>A reusable research architecture for personalized, continuously updated health prediction.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3886200"/>
          </a:xfrm>
          <a:prstGeom prst="roundRect">
            <a:avLst/>
          </a:prstGeom>
          <a:solidFill>
            <a:srgbClr val="683F79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700" b="1">
                <a:solidFill>
                  <a:srgbClr val="F5F8FC"/>
                </a:solidFill>
                <a:latin typeface="Aptos Display"/>
              </a:rPr>
              <a:t>INNOVATION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Patient-specific state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Multimodal data fusion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Dynamic time-series features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2-hour prediction horizon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SHAP explainability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Interactive digital-twin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25880"/>
            <a:ext cx="3429000" cy="3886200"/>
          </a:xfrm>
          <a:prstGeom prst="roundRect">
            <a:avLst/>
          </a:prstGeom>
          <a:solidFill>
            <a:srgbClr val="2A6E5B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700" b="1">
                <a:solidFill>
                  <a:srgbClr val="F5F8FC"/>
                </a:solidFill>
                <a:latin typeface="Aptos Display"/>
              </a:rPr>
              <a:t>POTENTIAL VALUE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Earlier visibility into glucose excursions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Personalized monitoring research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Transparent model outputs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Reusable data-fusion architecture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Foundation for future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325880"/>
            <a:ext cx="3429000" cy="3886200"/>
          </a:xfrm>
          <a:prstGeom prst="roundRect">
            <a:avLst/>
          </a:prstGeom>
          <a:solidFill>
            <a:srgbClr val="2A4A6C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700" b="1">
                <a:solidFill>
                  <a:srgbClr val="F5F8FC"/>
                </a:solidFill>
                <a:latin typeface="Aptos Display"/>
              </a:rPr>
              <a:t>FUTURE WORK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Patient/time-aware validation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Open-source wearable datasets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Calibration &amp; uncertainty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External validation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Clinical expert review</a:t>
            </a:r>
          </a:p>
          <a:p>
            <a:pPr algn="ctr"/>
            <a:r>
              <a:rPr sz="1200">
                <a:solidFill>
                  <a:srgbClr val="F5F8FC"/>
                </a:solidFill>
                <a:latin typeface="Aptos"/>
              </a:rPr>
              <a:t>Real-time streaming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BECCDC"/>
                </a:solidFill>
                <a:latin typeface="Aptos"/>
              </a:rPr>
              <a:t>Impact claims remain prospective until validated on representative real-world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BECCDC"/>
                </a:solidFill>
                <a:latin typeface="Aptos"/>
              </a:rPr>
              <a:t>GlucoTwin • Saima Kauser • Amity University    |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10.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BECCDC"/>
                </a:solidFill>
                <a:latin typeface="Aptos"/>
              </a:rPr>
              <a:t>Implementation stack used in the prototype.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606040" cy="1188720"/>
          </a:xfrm>
          <a:prstGeom prst="roundRect">
            <a:avLst/>
          </a:prstGeom>
          <a:solidFill>
            <a:srgbClr val="2A4A6C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500" b="1">
                <a:solidFill>
                  <a:srgbClr val="F5F8FC"/>
                </a:solidFill>
                <a:latin typeface="Aptos Display"/>
              </a:rPr>
              <a:t>DATA</a:t>
            </a:r>
          </a:p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Python • Pandas • NumPy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234440"/>
            <a:ext cx="2606040" cy="1188720"/>
          </a:xfrm>
          <a:prstGeom prst="roundRect">
            <a:avLst/>
          </a:prstGeom>
          <a:solidFill>
            <a:srgbClr val="683F79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500" b="1">
                <a:solidFill>
                  <a:srgbClr val="F5F8FC"/>
                </a:solidFill>
                <a:latin typeface="Aptos Display"/>
              </a:rPr>
              <a:t>ML</a:t>
            </a:r>
          </a:p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XGBoost • Scikit-learn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2606040" cy="1188720"/>
          </a:xfrm>
          <a:prstGeom prst="roundRect">
            <a:avLst/>
          </a:prstGeom>
          <a:solidFill>
            <a:srgbClr val="226970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500" b="1">
                <a:solidFill>
                  <a:srgbClr val="F5F8FC"/>
                </a:solidFill>
                <a:latin typeface="Aptos Display"/>
              </a:rPr>
              <a:t>EXPLAINABILITY</a:t>
            </a:r>
          </a:p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SHAP • Feature importance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234440"/>
            <a:ext cx="2606040" cy="1188720"/>
          </a:xfrm>
          <a:prstGeom prst="roundRect">
            <a:avLst/>
          </a:prstGeom>
          <a:solidFill>
            <a:srgbClr val="2A6E5B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500" b="1">
                <a:solidFill>
                  <a:srgbClr val="F5F8FC"/>
                </a:solidFill>
                <a:latin typeface="Aptos Display"/>
              </a:rPr>
              <a:t>UI</a:t>
            </a:r>
          </a:p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Streamlit • Plotly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71800"/>
            <a:ext cx="8549640" cy="2057400"/>
          </a:xfrm>
          <a:prstGeom prst="roundRect">
            <a:avLst/>
          </a:prstGeom>
          <a:solidFill>
            <a:srgbClr val="14263D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800" b="1">
                <a:solidFill>
                  <a:srgbClr val="F5F8FC"/>
                </a:solidFill>
                <a:latin typeface="Aptos Display"/>
              </a:rPr>
              <a:t>REPRODUCIBLE PROJECT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Synthetic data generator → feature engineering → model training → evaluation → digital twin → prediction → SHAP → dashboard</a:t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/>
            </a:r>
          </a:p>
          <a:p>
            <a:pPr algn="ctr"/>
            <a:r>
              <a:rPr sz="1300">
                <a:solidFill>
                  <a:srgbClr val="F5F8FC"/>
                </a:solidFill>
                <a:latin typeface="Aptos"/>
              </a:rPr>
              <a:t>Artifacts: trained model, feature list, metrics, visualizations, source code, README, license, architecture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4CBEDC"/>
                </a:solidFill>
                <a:latin typeface="Aptos"/>
              </a:rPr>
              <a:t>Public GitHub repository will contain the reproducible prototype and documentation.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BECCDC"/>
                </a:solidFill>
                <a:latin typeface="Aptos"/>
              </a:rPr>
              <a:t>GlucoTwin • Saima Kauser • Amity University    |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11. Submission &amp; Project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BECCDC"/>
                </a:solidFill>
                <a:latin typeface="Aptos"/>
              </a:rPr>
              <a:t>Phase 1 prototype submission information.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074920" cy="3566160"/>
          </a:xfrm>
          <a:prstGeom prst="roundRect">
            <a:avLst/>
          </a:prstGeom>
          <a:solidFill>
            <a:srgbClr val="2A4A6C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900" b="1">
                <a:solidFill>
                  <a:srgbClr val="F5F8FC"/>
                </a:solidFill>
                <a:latin typeface="Aptos Display"/>
              </a:rPr>
              <a:t>PARTICIPANT</a:t>
            </a:r>
          </a:p>
          <a:p>
            <a:pPr algn="ctr"/>
            <a:r>
              <a:rPr sz="1400">
                <a:solidFill>
                  <a:srgbClr val="F5F8FC"/>
                </a:solidFill>
                <a:latin typeface="Aptos"/>
              </a:rPr>
              <a:t>Saima Kauser</a:t>
            </a:r>
          </a:p>
          <a:p>
            <a:pPr algn="ctr"/>
            <a:r>
              <a:rPr sz="1400">
                <a:solidFill>
                  <a:srgbClr val="F5F8FC"/>
                </a:solidFill>
                <a:latin typeface="Aptos"/>
              </a:rPr>
              <a:t>Amity University</a:t>
            </a:r>
          </a:p>
          <a:p>
            <a:pPr algn="ctr"/>
            <a:r>
              <a:rPr sz="1400">
                <a:solidFill>
                  <a:srgbClr val="F5F8FC"/>
                </a:solidFill>
                <a:latin typeface="Aptos"/>
              </a:rPr>
              <a:t>Solo Builder</a:t>
            </a:r>
          </a:p>
          <a:p>
            <a:pPr algn="ctr"/>
            <a:r>
              <a:rPr sz="1400">
                <a:solidFill>
                  <a:srgbClr val="F5F8FC"/>
                </a:solidFill>
                <a:latin typeface="Aptos"/>
              </a:rPr>
              <a:t/>
            </a:r>
          </a:p>
          <a:p>
            <a:pPr algn="ctr"/>
            <a:r>
              <a:rPr sz="1400">
                <a:solidFill>
                  <a:srgbClr val="F5F8FC"/>
                </a:solidFill>
                <a:latin typeface="Aptos"/>
              </a:rPr>
              <a:t>Project: GlucoTwin</a:t>
            </a:r>
          </a:p>
          <a:p>
            <a:pPr algn="ctr"/>
            <a:r>
              <a:rPr sz="1400">
                <a:solidFill>
                  <a:srgbClr val="F5F8FC"/>
                </a:solidFill>
                <a:latin typeface="Aptos"/>
              </a:rPr>
              <a:t>Use case: 2-hour glucose excursion prediction</a:t>
            </a:r>
          </a:p>
          <a:p>
            <a:pPr algn="ctr"/>
            <a:r>
              <a:rPr sz="1400">
                <a:solidFill>
                  <a:srgbClr val="F5F8FC"/>
                </a:solidFill>
                <a:latin typeface="Aptos"/>
              </a:rPr>
              <a:t>Data: Synthetic / anonymized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25880"/>
            <a:ext cx="5074920" cy="3566160"/>
          </a:xfrm>
          <a:prstGeom prst="roundRect">
            <a:avLst/>
          </a:prstGeom>
          <a:solidFill>
            <a:srgbClr val="226970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900" b="1">
                <a:solidFill>
                  <a:srgbClr val="F5F8FC"/>
                </a:solidFill>
                <a:latin typeface="Aptos Display"/>
              </a:rPr>
              <a:t>DELIVERABLES</a:t>
            </a:r>
          </a:p>
          <a:p>
            <a:pPr algn="ctr"/>
            <a:r>
              <a:rPr sz="1400">
                <a:solidFill>
                  <a:srgbClr val="F5F8FC"/>
                </a:solidFill>
                <a:latin typeface="Aptos"/>
              </a:rPr>
              <a:t>Public GitHub repository</a:t>
            </a:r>
          </a:p>
          <a:p>
            <a:pPr algn="ctr"/>
            <a:r>
              <a:rPr sz="1400">
                <a:solidFill>
                  <a:srgbClr val="F5F8FC"/>
                </a:solidFill>
                <a:latin typeface="Aptos"/>
              </a:rPr>
              <a:t>README with setup &amp; methodology</a:t>
            </a:r>
          </a:p>
          <a:p>
            <a:pPr algn="ctr"/>
            <a:r>
              <a:rPr sz="1400">
                <a:solidFill>
                  <a:srgbClr val="F5F8FC"/>
                </a:solidFill>
                <a:latin typeface="Aptos"/>
              </a:rPr>
              <a:t>Architecture diagram</a:t>
            </a:r>
          </a:p>
          <a:p>
            <a:pPr algn="ctr"/>
            <a:r>
              <a:rPr sz="1400">
                <a:solidFill>
                  <a:srgbClr val="F5F8FC"/>
                </a:solidFill>
                <a:latin typeface="Aptos"/>
              </a:rPr>
              <a:t>Presentation deck</a:t>
            </a:r>
          </a:p>
          <a:p>
            <a:pPr algn="ctr"/>
            <a:r>
              <a:rPr sz="1400">
                <a:solidFill>
                  <a:srgbClr val="F5F8FC"/>
                </a:solidFill>
                <a:latin typeface="Aptos"/>
              </a:rPr>
              <a:t>2–5 minute demo / explanation video</a:t>
            </a:r>
          </a:p>
          <a:p>
            <a:pPr algn="ctr"/>
            <a:r>
              <a:rPr sz="1400">
                <a:solidFill>
                  <a:srgbClr val="F5F8FC"/>
                </a:solidFill>
                <a:latin typeface="Aptos"/>
              </a:rPr>
              <a:t>MIT open-source license</a:t>
            </a:r>
          </a:p>
          <a:p>
            <a:pPr algn="ctr"/>
            <a:r>
              <a:rPr sz="1400">
                <a:solidFill>
                  <a:srgbClr val="F5F8FC"/>
                </a:solidFill>
                <a:latin typeface="Aptos"/>
              </a:rPr>
              <a:t>Working Streamlit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4CBEDC"/>
                </a:solidFill>
                <a:latin typeface="Aptos"/>
              </a:rPr>
              <a:t>Repository / video links: add final public URLs before submission.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BECCDC"/>
                </a:solidFill>
                <a:latin typeface="Aptos"/>
              </a:rPr>
              <a:t>GlucoTwin • Saima Kauser • Amity University    |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2588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5F8FC"/>
                </a:solidFill>
                <a:latin typeface="Aptos"/>
              </a:rPr>
              <a:t>GlucoTwin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40280"/>
            <a:ext cx="9966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4CBEDC"/>
                </a:solidFill>
                <a:latin typeface="Aptos"/>
              </a:rPr>
              <a:t>From fragmented patient signals to an evolving digital patient state.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429000"/>
            <a:ext cx="6720840" cy="1051560"/>
          </a:xfrm>
          <a:prstGeom prst="roundRect">
            <a:avLst/>
          </a:prstGeom>
          <a:solidFill>
            <a:srgbClr val="683F79"/>
          </a:solidFill>
          <a:ln w="13970">
            <a:solidFill>
              <a:srgbClr val="4B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/>
            <a:r>
              <a:rPr sz="1800" b="1">
                <a:solidFill>
                  <a:srgbClr val="F5F8FC"/>
                </a:solidFill>
                <a:latin typeface="Aptos Display"/>
              </a:rPr>
              <a:t>KEY TAKEAWAY</a:t>
            </a:r>
          </a:p>
          <a:p>
            <a:pPr algn="ctr"/>
            <a:r>
              <a:rPr sz="1600">
                <a:solidFill>
                  <a:srgbClr val="F5F8FC"/>
                </a:solidFill>
                <a:latin typeface="Aptos"/>
              </a:rPr>
              <a:t>Fuse → Personalize → Predict →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892040"/>
            <a:ext cx="8595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BECCDC"/>
                </a:solidFill>
                <a:latin typeface="Aptos"/>
              </a:rPr>
              <a:t>Research prototype • Synthetic data • Not for clinical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806440"/>
            <a:ext cx="6766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Saima Kauser  •  Amity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