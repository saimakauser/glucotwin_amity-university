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1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DBF81F-8148-4A3F-B7B8-37BE0676A95C}" v="6" dt="2026-09-24T05:10:45.7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22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978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807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10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147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3857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3282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611406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972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7215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2010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6277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4896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634673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605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73366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22595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180030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19509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89750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34977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57653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77825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47896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00900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5327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066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290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4659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813" r:id="rId12"/>
    <p:sldLayoutId id="2147483814" r:id="rId13"/>
    <p:sldLayoutId id="2147483815" r:id="rId14"/>
    <p:sldLayoutId id="2147483816" r:id="rId15"/>
    <p:sldLayoutId id="2147483817" r:id="rId16"/>
    <p:sldLayoutId id="2147483818" r:id="rId17"/>
    <p:sldLayoutId id="2147483819" r:id="rId18"/>
    <p:sldLayoutId id="2147483820" r:id="rId19"/>
    <p:sldLayoutId id="2147483821" r:id="rId20"/>
    <p:sldLayoutId id="2147483822" r:id="rId21"/>
    <p:sldLayoutId id="2147483823" r:id="rId22"/>
    <p:sldLayoutId id="2147483824" r:id="rId23"/>
    <p:sldLayoutId id="2147483825" r:id="rId24"/>
    <p:sldLayoutId id="2147483826" r:id="rId25"/>
    <p:sldLayoutId id="2147483827" r:id="rId26"/>
    <p:sldLayoutId id="2147483828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F5F8FC"/>
                </a:solidFill>
                <a:latin typeface="Aptos"/>
              </a:rPr>
              <a:t>GlucoTwin — Digital Twin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0">
                <a:solidFill>
                  <a:srgbClr val="BECCDC"/>
                </a:solidFill>
                <a:latin typeface="Aptos"/>
              </a:rPr>
              <a:t>Fusion of synthetic EHR + dynamic wearable data for personalized 2-hour glucose excursion prediction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3154680" cy="1325880"/>
          </a:xfrm>
          <a:prstGeom prst="roundRect">
            <a:avLst/>
          </a:prstGeom>
          <a:solidFill>
            <a:srgbClr val="2A4A6C"/>
          </a:solidFill>
          <a:ln w="15240">
            <a:solidFill>
              <a:srgbClr val="69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91440" rtlCol="0" anchor="ctr"/>
          <a:lstStyle/>
          <a:p>
            <a:pPr algn="ctr"/>
            <a:r>
              <a:rPr sz="1500" b="1">
                <a:solidFill>
                  <a:srgbClr val="F5F8FC"/>
                </a:solidFill>
                <a:latin typeface="Aptos Display"/>
              </a:rPr>
              <a:t>SYNTHETIC EHR DATA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F5F8FC"/>
                </a:solidFill>
                <a:latin typeface="Aptos"/>
              </a:rPr>
              <a:t>Demographics  •  Diagnoses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F5F8FC"/>
                </a:solidFill>
                <a:latin typeface="Aptos"/>
              </a:rPr>
              <a:t>Lab results  •  Genetic risk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F5F8FC"/>
                </a:solidFill>
                <a:latin typeface="Aptos"/>
              </a:rPr>
              <a:t>Medication history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39912" y="1234440"/>
            <a:ext cx="3154680" cy="1325880"/>
          </a:xfrm>
          <a:prstGeom prst="roundRect">
            <a:avLst/>
          </a:prstGeom>
          <a:solidFill>
            <a:srgbClr val="2A4A6C"/>
          </a:solidFill>
          <a:ln w="15240">
            <a:solidFill>
              <a:srgbClr val="69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91440" rtlCol="0" anchor="ctr"/>
          <a:lstStyle/>
          <a:p>
            <a:pPr algn="ctr"/>
            <a:r>
              <a:rPr sz="1500" b="1">
                <a:solidFill>
                  <a:srgbClr val="F5F8FC"/>
                </a:solidFill>
                <a:latin typeface="Aptos Display"/>
              </a:rPr>
              <a:t>DYNAMIC WEARABLE DATA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F5F8FC"/>
                </a:solidFill>
                <a:latin typeface="Aptos"/>
              </a:rPr>
              <a:t>CGM glucose  •  Heart rate  •  HRV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F5F8FC"/>
                </a:solidFill>
                <a:latin typeface="Aptos"/>
              </a:rPr>
              <a:t>Step count  •  Sleep stages  •  Activity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87952" y="2697480"/>
            <a:ext cx="3813048" cy="1051560"/>
          </a:xfrm>
          <a:prstGeom prst="roundRect">
            <a:avLst/>
          </a:prstGeom>
          <a:solidFill>
            <a:srgbClr val="225D7A"/>
          </a:solidFill>
          <a:ln w="15240">
            <a:solidFill>
              <a:srgbClr val="69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91440" rtlCol="0" anchor="ctr"/>
          <a:lstStyle/>
          <a:p>
            <a:pPr algn="ctr"/>
            <a:r>
              <a:rPr sz="1500" b="1">
                <a:solidFill>
                  <a:srgbClr val="F5F8FC"/>
                </a:solidFill>
                <a:latin typeface="Aptos Display"/>
              </a:rPr>
              <a:t>DATA FUSION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F5F8FC"/>
                </a:solidFill>
                <a:latin typeface="Aptos"/>
              </a:rPr>
              <a:t>EHR + Wearables  →  Unified Patient State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87952" y="4005072"/>
            <a:ext cx="3813048" cy="914400"/>
          </a:xfrm>
          <a:prstGeom prst="roundRect">
            <a:avLst/>
          </a:prstGeom>
          <a:solidFill>
            <a:srgbClr val="225D7A"/>
          </a:solidFill>
          <a:ln w="15240">
            <a:solidFill>
              <a:srgbClr val="69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91440" rtlCol="0" anchor="ctr"/>
          <a:lstStyle/>
          <a:p>
            <a:pPr algn="ctr"/>
            <a:r>
              <a:rPr sz="1400" b="1">
                <a:solidFill>
                  <a:srgbClr val="F5F8FC"/>
                </a:solidFill>
                <a:latin typeface="Aptos Display"/>
              </a:rPr>
              <a:t>FEATURE ENGINEERING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F5F8FC"/>
                </a:solidFill>
                <a:latin typeface="Aptos"/>
              </a:rPr>
              <a:t>Trends • Rolling statistics • HR/HRV • Activity/Sleep •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87952" y="5148072"/>
            <a:ext cx="3813048" cy="868680"/>
          </a:xfrm>
          <a:prstGeom prst="roundRect">
            <a:avLst/>
          </a:prstGeom>
          <a:solidFill>
            <a:srgbClr val="683F79"/>
          </a:solidFill>
          <a:ln w="15240">
            <a:solidFill>
              <a:srgbClr val="69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91440" rtlCol="0" anchor="ctr"/>
          <a:lstStyle/>
          <a:p>
            <a:pPr algn="ctr"/>
            <a:r>
              <a:rPr sz="1400" b="1">
                <a:solidFill>
                  <a:srgbClr val="F5F8FC"/>
                </a:solidFill>
                <a:latin typeface="Aptos Display"/>
              </a:rPr>
              <a:t>XGBOOST PREDICTION MODEL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F5F8FC"/>
                </a:solidFill>
                <a:latin typeface="Aptos"/>
              </a:rPr>
              <a:t>Personalized binary classification • 2-hour horizon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5074920"/>
            <a:ext cx="3246120" cy="1097280"/>
          </a:xfrm>
          <a:prstGeom prst="roundRect">
            <a:avLst/>
          </a:prstGeom>
          <a:solidFill>
            <a:srgbClr val="2A6E5B"/>
          </a:solidFill>
          <a:ln w="15240">
            <a:solidFill>
              <a:srgbClr val="69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91440" rtlCol="0" anchor="ctr"/>
          <a:lstStyle/>
          <a:p>
            <a:pPr algn="ctr"/>
            <a:r>
              <a:rPr sz="1300" b="1">
                <a:solidFill>
                  <a:srgbClr val="F5F8FC"/>
                </a:solidFill>
                <a:latin typeface="Aptos Display"/>
              </a:rPr>
              <a:t>2-HOUR GLUCOSE SPIKE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F5F8FC"/>
                </a:solidFill>
                <a:latin typeface="Aptos"/>
              </a:rPr>
              <a:t>Probability that glucose reaches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F5F8FC"/>
                </a:solidFill>
                <a:latin typeface="Aptos"/>
              </a:rPr>
              <a:t>≥ 180 mg/dL at +2 hours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48472" y="5074920"/>
            <a:ext cx="3246120" cy="1097280"/>
          </a:xfrm>
          <a:prstGeom prst="roundRect">
            <a:avLst/>
          </a:prstGeom>
          <a:solidFill>
            <a:srgbClr val="2A6E5B"/>
          </a:solidFill>
          <a:ln w="15240">
            <a:solidFill>
              <a:srgbClr val="69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91440" rtlCol="0" anchor="ctr"/>
          <a:lstStyle/>
          <a:p>
            <a:pPr algn="ctr"/>
            <a:r>
              <a:rPr sz="1300" b="1">
                <a:solidFill>
                  <a:srgbClr val="F5F8FC"/>
                </a:solidFill>
                <a:latin typeface="Aptos Display"/>
              </a:rPr>
              <a:t>SHAP EXPLAINABILITY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F5F8FC"/>
                </a:solidFill>
                <a:latin typeface="Aptos"/>
              </a:rPr>
              <a:t>Patient-specific feature contributions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F5F8FC"/>
                </a:solidFill>
                <a:latin typeface="Aptos"/>
              </a:rPr>
              <a:t>supporting model transparency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87952" y="6144768"/>
            <a:ext cx="1828800" cy="475488"/>
          </a:xfrm>
          <a:prstGeom prst="roundRect">
            <a:avLst/>
          </a:prstGeom>
          <a:solidFill>
            <a:srgbClr val="385B6F"/>
          </a:solidFill>
          <a:ln w="15240">
            <a:solidFill>
              <a:srgbClr val="69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91440" rtlCol="0" anchor="ctr"/>
          <a:lstStyle/>
          <a:p>
            <a:pPr algn="ctr"/>
            <a:r>
              <a:rPr sz="1050" b="1">
                <a:solidFill>
                  <a:srgbClr val="F5F8FC"/>
                </a:solidFill>
                <a:latin typeface="Aptos Display"/>
              </a:rPr>
              <a:t>DIGITAL TWIN</a:t>
            </a: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F5F8FC"/>
                </a:solidFill>
                <a:latin typeface="Aptos"/>
              </a:rPr>
              <a:t>Personalized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6144768"/>
            <a:ext cx="1874519" cy="475488"/>
          </a:xfrm>
          <a:prstGeom prst="roundRect">
            <a:avLst/>
          </a:prstGeom>
          <a:solidFill>
            <a:srgbClr val="385B6F"/>
          </a:solidFill>
          <a:ln w="15240">
            <a:solidFill>
              <a:srgbClr val="69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91440" rtlCol="0" anchor="ctr"/>
          <a:lstStyle/>
          <a:p>
            <a:pPr algn="ctr"/>
            <a:r>
              <a:rPr sz="1050" b="1">
                <a:solidFill>
                  <a:srgbClr val="F5F8FC"/>
                </a:solidFill>
                <a:latin typeface="Aptos Display"/>
              </a:rPr>
              <a:t>STREAMLIT UI</a:t>
            </a: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F5F8FC"/>
                </a:solidFill>
                <a:latin typeface="Aptos"/>
              </a:rPr>
              <a:t>Doctor-facing prototype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76272" y="2560320"/>
            <a:ext cx="2578608" cy="137160"/>
          </a:xfrm>
          <a:prstGeom prst="line">
            <a:avLst/>
          </a:prstGeom>
          <a:ln w="27940">
            <a:solidFill>
              <a:srgbClr val="73B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452360" y="2560320"/>
            <a:ext cx="2560320" cy="137160"/>
          </a:xfrm>
          <a:prstGeom prst="line">
            <a:avLst/>
          </a:prstGeom>
          <a:ln w="27940">
            <a:solidFill>
              <a:srgbClr val="73B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99048" y="3749039"/>
            <a:ext cx="0" cy="256033"/>
          </a:xfrm>
          <a:prstGeom prst="line">
            <a:avLst/>
          </a:prstGeom>
          <a:ln w="27940">
            <a:solidFill>
              <a:srgbClr val="73B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99048" y="4919472"/>
            <a:ext cx="0" cy="228600"/>
          </a:xfrm>
          <a:prstGeom prst="line">
            <a:avLst/>
          </a:prstGeom>
          <a:ln w="27940">
            <a:solidFill>
              <a:srgbClr val="73B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2788920" y="5468112"/>
            <a:ext cx="1920240" cy="548640"/>
          </a:xfrm>
          <a:prstGeom prst="line">
            <a:avLst/>
          </a:prstGeom>
          <a:ln w="27940">
            <a:solidFill>
              <a:srgbClr val="73B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479792" y="5468112"/>
            <a:ext cx="1801368" cy="548640"/>
          </a:xfrm>
          <a:prstGeom prst="line">
            <a:avLst/>
          </a:prstGeom>
          <a:ln w="27940">
            <a:solidFill>
              <a:srgbClr val="73B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40480" y="5623560"/>
            <a:ext cx="347472" cy="731520"/>
          </a:xfrm>
          <a:prstGeom prst="line">
            <a:avLst/>
          </a:prstGeom>
          <a:ln w="27940">
            <a:solidFill>
              <a:srgbClr val="73B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001000" y="5623560"/>
            <a:ext cx="347472" cy="731520"/>
          </a:xfrm>
          <a:prstGeom prst="line">
            <a:avLst/>
          </a:prstGeom>
          <a:ln w="27940">
            <a:solidFill>
              <a:srgbClr val="73B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" y="6629400"/>
            <a:ext cx="109728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BECCDC"/>
                </a:solidFill>
                <a:latin typeface="Aptos"/>
              </a:rPr>
              <a:t>Research prototype • Synthetic/anonymized data only • Not a clinical diagnostic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1</TotalTime>
  <Words>129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Nova Light</vt:lpstr>
      <vt:lpstr>Dark Gradient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Mohamad Nizamuddin</cp:lastModifiedBy>
  <cp:revision>1</cp:revision>
  <dcterms:created xsi:type="dcterms:W3CDTF">2013-01-27T09:14:16Z</dcterms:created>
  <dcterms:modified xsi:type="dcterms:W3CDTF">2026-09-24T05:10:53Z</dcterms:modified>
  <cp:category/>
</cp:coreProperties>
</file>